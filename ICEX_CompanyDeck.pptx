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ontserrat Bold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Source Sans 3" charset="0"/>
      <p:regular r:id="rId18"/>
    </p:embeddedFont>
    <p:embeddedFont>
      <p:font typeface="Source Sans 3 Bold" charset="0"/>
      <p:regular r:id="rId19"/>
    </p:embeddedFont>
    <p:embeddedFont>
      <p:font typeface="Montserrat Light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-53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6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-5-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-5-8.svg"/><Relationship Id="rId4" Type="http://schemas.openxmlformats.org/officeDocument/2006/relationships/image" Target="../media/image-5-2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3.svg"/><Relationship Id="rId13" Type="http://schemas.openxmlformats.org/officeDocument/2006/relationships/image" Target="../media/image-8-13.svg"/><Relationship Id="rId3" Type="http://schemas.openxmlformats.org/officeDocument/2006/relationships/image" Target="../media/image13.jpeg"/><Relationship Id="rId7" Type="http://schemas.openxmlformats.org/officeDocument/2006/relationships/image" Target="../media/image-8-5.svg"/><Relationship Id="rId12" Type="http://schemas.openxmlformats.org/officeDocument/2006/relationships/image" Target="../media/image17.png"/><Relationship Id="rId17" Type="http://schemas.openxmlformats.org/officeDocument/2006/relationships/image" Target="../media/image-8-1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-8-3.svg"/><Relationship Id="rId5" Type="http://schemas.openxmlformats.org/officeDocument/2006/relationships/image" Target="../media/image-8-3.svg"/><Relationship Id="rId15" Type="http://schemas.openxmlformats.org/officeDocument/2006/relationships/image" Target="../media/image-8-3.svg"/><Relationship Id="rId10" Type="http://schemas.openxmlformats.org/officeDocument/2006/relationships/image" Target="../media/image-8-9.sv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-9-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3.svg"/><Relationship Id="rId5" Type="http://schemas.openxmlformats.org/officeDocument/2006/relationships/image" Target="../media/image-9-3.svg"/><Relationship Id="rId4" Type="http://schemas.openxmlformats.org/officeDocument/2006/relationships/image" Target="../media/image20.png"/><Relationship Id="rId9" Type="http://schemas.openxmlformats.org/officeDocument/2006/relationships/image" Target="../media/image-9-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680368"/>
            <a:ext cx="4635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ARVELA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9874" y="1350020"/>
            <a:ext cx="4635252" cy="241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Building the Intelligence Layer for the Physical World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9874" y="4000426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AI-native operational intelligence for traditional industries — starting with livestock.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8923"/>
            <a:ext cx="8064252" cy="376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39874" y="1033388"/>
            <a:ext cx="8064252" cy="36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industries generate enormous amounts of data — yet still make decisions with limited information. Farms already collect from GPS collars, RFID, boluses, weather stations, satellites, and IoT devices. </a:t>
            </a:r>
            <a:r>
              <a:rPr lang="en-US" sz="10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data exists. It's just disconnected.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415" y="1531367"/>
            <a:ext cx="6271171" cy="28700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38260" y="3627154"/>
            <a:ext cx="1177352" cy="41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Better Decisions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754473" y="3627154"/>
            <a:ext cx="1177352" cy="41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Many Dashboards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278751" y="3627154"/>
            <a:ext cx="1177352" cy="41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Many Systems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70773" y="3627154"/>
            <a:ext cx="1177352" cy="41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Many Sensors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9874" y="4529584"/>
            <a:ext cx="8521452" cy="18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result: more data, more complexity, and no meaningful improvement in decision-making.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720254"/>
            <a:ext cx="4635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Opportunity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9874" y="1389906"/>
            <a:ext cx="463525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Operational data is becoming the world's largest untapped asset. AI changes everything — shifting industries from reactive monitoring to predictive action.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874" y="2257499"/>
            <a:ext cx="4635252" cy="2165747"/>
          </a:xfrm>
          <a:prstGeom prst="roundRect">
            <a:avLst>
              <a:gd name="adj" fmla="val 1068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39874" y="2257499"/>
            <a:ext cx="4635252" cy="10828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94134" y="2411760"/>
            <a:ext cx="4326731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Reactive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4134" y="2723406"/>
            <a:ext cx="4326731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assets. Respond to events after they happen. Manual decisions. Lost value.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874" y="3340373"/>
            <a:ext cx="4635252" cy="10828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39874" y="3340373"/>
            <a:ext cx="4635252" cy="19050"/>
          </a:xfrm>
          <a:prstGeom prst="roundRect">
            <a:avLst>
              <a:gd name="adj" fmla="val 121472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694134" y="3494633"/>
            <a:ext cx="4326731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Predictive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134" y="3806279"/>
            <a:ext cx="4326731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Anticipate risks. Automate decisions. Optimize operations. Capture value.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39874" y="720477"/>
            <a:ext cx="8521452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ARVELA is an AI-native Operational Intelligence Platform. We don't replace existing technologies — </a:t>
            </a:r>
            <a:r>
              <a:rPr lang="en-US" sz="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we connect them.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91" y="850627"/>
            <a:ext cx="7338417" cy="38868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3895" y="3628564"/>
            <a:ext cx="1649348" cy="206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Integrate Data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89809" y="3899213"/>
            <a:ext cx="1943434" cy="27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systems and ingest operational streams.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8751" y="1416496"/>
            <a:ext cx="1744857" cy="206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Understand Context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80174" y="1687146"/>
            <a:ext cx="1943434" cy="27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Correlate signals to reveal current state.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34757" y="1416496"/>
            <a:ext cx="1649348" cy="206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 Outcomes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34757" y="1687146"/>
            <a:ext cx="1943434" cy="27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Forecast risks and future performance trends.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0200" y="3628690"/>
            <a:ext cx="1809874" cy="206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 Actions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20200" y="3899339"/>
            <a:ext cx="1943434" cy="272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Prescribe prioritized steps to resolve issues.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9874" y="4780880"/>
            <a:ext cx="8521452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platform continuously integrates operational data, understands what is happening, predicts what will happen, and recommends what should happen next.</a:t>
            </a:r>
            <a:endParaRPr lang="en-US" sz="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58341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First Market: Livestock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405161"/>
            <a:ext cx="8064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Livestock is the ideal entry point — low digitalization, high complexity, massive IoT adoption, and clear ROI. A single farm with 250 animals generates thousands of daily events. One intelligent platform makes sense of all of them.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9874" y="2041401"/>
            <a:ext cx="2585219" cy="1144712"/>
          </a:xfrm>
          <a:prstGeom prst="roundRect">
            <a:avLst>
              <a:gd name="adj" fmla="val 202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94134" y="2195661"/>
            <a:ext cx="462781" cy="462781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382" y="2322909"/>
            <a:ext cx="208211" cy="208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134" y="2812703"/>
            <a:ext cx="227669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Digitalization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79353" y="2041401"/>
            <a:ext cx="2585219" cy="1144712"/>
          </a:xfrm>
          <a:prstGeom prst="roundRect">
            <a:avLst>
              <a:gd name="adj" fmla="val 2022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3433614" y="2195661"/>
            <a:ext cx="462781" cy="462781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0862" y="2322909"/>
            <a:ext cx="208211" cy="2082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3614" y="2812703"/>
            <a:ext cx="227669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Complexity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18833" y="2041401"/>
            <a:ext cx="2585219" cy="1144712"/>
          </a:xfrm>
          <a:prstGeom prst="roundRect">
            <a:avLst>
              <a:gd name="adj" fmla="val 2022"/>
            </a:avLst>
          </a:prstGeom>
          <a:solidFill>
            <a:srgbClr val="F2EEEE"/>
          </a:solidFill>
          <a:ln/>
        </p:spPr>
      </p:sp>
      <p:sp>
        <p:nvSpPr>
          <p:cNvPr id="13" name="Shape 9"/>
          <p:cNvSpPr/>
          <p:nvPr/>
        </p:nvSpPr>
        <p:spPr>
          <a:xfrm>
            <a:off x="6173093" y="2195661"/>
            <a:ext cx="462781" cy="462781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0341" y="2322909"/>
            <a:ext cx="208211" cy="20821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3093" y="2812703"/>
            <a:ext cx="227669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Economic Impact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39874" y="3340373"/>
            <a:ext cx="3954959" cy="1144712"/>
          </a:xfrm>
          <a:prstGeom prst="roundRect">
            <a:avLst>
              <a:gd name="adj" fmla="val 2022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694134" y="3494633"/>
            <a:ext cx="462781" cy="462781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1382" y="3621881"/>
            <a:ext cx="208211" cy="20821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134" y="4111675"/>
            <a:ext cx="364643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Massive IoT Adoption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649093" y="3340373"/>
            <a:ext cx="3954959" cy="1144712"/>
          </a:xfrm>
          <a:prstGeom prst="roundRect">
            <a:avLst>
              <a:gd name="adj" fmla="val 2022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4803353" y="3494633"/>
            <a:ext cx="462781" cy="462781"/>
          </a:xfrm>
          <a:prstGeom prst="ellipse">
            <a:avLst/>
          </a:prstGeom>
          <a:solidFill>
            <a:srgbClr val="2D2E3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30601" y="3621881"/>
            <a:ext cx="208211" cy="2082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3353" y="4111675"/>
            <a:ext cx="364643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Clear ROI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39874" y="2705472"/>
            <a:ext cx="3525441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ARVELA's stack is built from the ground up for operational environments — purpose-built for the physical world, not adapted from enterprise software.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539874" y="2922389"/>
            <a:ext cx="3525441" cy="203225"/>
          </a:xfrm>
          <a:prstGeom prst="roundRect">
            <a:avLst>
              <a:gd name="adj" fmla="val 5693"/>
            </a:avLst>
          </a:prstGeom>
          <a:solidFill>
            <a:srgbClr val="E4E4E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67" y="3018755"/>
            <a:ext cx="96366" cy="770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426" y="2976339"/>
            <a:ext cx="3654996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layer is designed to handle real-world data complexity at scale.</a:t>
            </a:r>
            <a:endParaRPr lang="en-US" sz="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196" y="744587"/>
            <a:ext cx="4350618" cy="4350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15094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Competitive Position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9874" y="1261914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ARVELA is </a:t>
            </a: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hardware agnostic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We sit above existing infrastructure — delivering the intelligence layer that others cannot.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9874" y="1666801"/>
            <a:ext cx="8064252" cy="2186508"/>
          </a:xfrm>
          <a:prstGeom prst="roundRect">
            <a:avLst>
              <a:gd name="adj" fmla="val 1058"/>
            </a:avLst>
          </a:prstGeom>
          <a:noFill/>
          <a:ln w="9525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874" y="2106960"/>
            <a:ext cx="8064252" cy="96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9874" y="2542356"/>
            <a:ext cx="8064252" cy="96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9874" y="2977753"/>
            <a:ext cx="8064252" cy="96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9874" y="3413150"/>
            <a:ext cx="8064252" cy="96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84786" y="1666801"/>
            <a:ext cx="9642" cy="218650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54724" y="1666801"/>
            <a:ext cx="9642" cy="218650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24663" y="1666801"/>
            <a:ext cx="9642" cy="218650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3734" y="1773585"/>
            <a:ext cx="287922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Company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3808" y="1773585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3747" y="1773585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83685" y="1773585"/>
            <a:ext cx="191385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3734" y="2208981"/>
            <a:ext cx="287922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GPS Companies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43808" y="2208981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3747" y="2208981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83685" y="2208981"/>
            <a:ext cx="191385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3734" y="2644378"/>
            <a:ext cx="287922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Companies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43808" y="2644378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3747" y="2644378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83685" y="2644378"/>
            <a:ext cx="191385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3734" y="3079775"/>
            <a:ext cx="287922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Farm Management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3808" y="3079775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3747" y="3079775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3685" y="3079775"/>
            <a:ext cx="191385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3734" y="3515171"/>
            <a:ext cx="2879229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ARVELA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43808" y="3515171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3747" y="3515171"/>
            <a:ext cx="1909093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83685" y="3515171"/>
            <a:ext cx="1913855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874" y="4026843"/>
            <a:ext cx="8064252" cy="601489"/>
          </a:xfrm>
          <a:prstGeom prst="roundRect">
            <a:avLst>
              <a:gd name="adj" fmla="val 3847"/>
            </a:avLst>
          </a:prstGeom>
          <a:solidFill>
            <a:srgbClr val="E4E4E7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34" y="4241825"/>
            <a:ext cx="192807" cy="1542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41202" y="4219649"/>
            <a:ext cx="7865864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Hardware agnostic.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 integrate with any existing infrastructure — no rip-and-replace required.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433015"/>
            <a:ext cx="4635252" cy="35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39874" y="941784"/>
            <a:ext cx="4635252" cy="340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ARVELA operates on a recurring SaaS model — </a:t>
            </a:r>
            <a:r>
              <a:rPr lang="en-US" sz="9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software scales, hardware doesn't.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Multiple revenue streams ensure resilience and growth.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1396975"/>
            <a:ext cx="4635252" cy="75202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803" y="1679004"/>
            <a:ext cx="187970" cy="1879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57288" y="1536576"/>
            <a:ext cx="387823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1157288" y="1775668"/>
            <a:ext cx="3878238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platform access with tiered pricing by farm size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874" y="2250802"/>
            <a:ext cx="4635252" cy="752029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0803" y="2532831"/>
            <a:ext cx="187970" cy="18797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57288" y="2390403"/>
            <a:ext cx="387823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Premium AI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1157288" y="2629495"/>
            <a:ext cx="3878238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predictive models and automation features</a:t>
            </a:r>
            <a:endParaRPr lang="en-US" sz="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874" y="3104629"/>
            <a:ext cx="4635252" cy="752029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803" y="3386658"/>
            <a:ext cx="187970" cy="18797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57288" y="3244230"/>
            <a:ext cx="387823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6" name="Text 7"/>
          <p:cNvSpPr/>
          <p:nvPr/>
        </p:nvSpPr>
        <p:spPr>
          <a:xfrm>
            <a:off x="1157288" y="3483322"/>
            <a:ext cx="3878238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deployments for large operators and cooperatives</a:t>
            </a:r>
            <a:endParaRPr lang="en-US" sz="9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9874" y="3958456"/>
            <a:ext cx="4635252" cy="752029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0803" y="4240485"/>
            <a:ext cx="187970" cy="18797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157288" y="4098057"/>
            <a:ext cx="387823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&amp; Marketplace</a:t>
            </a:r>
            <a:endParaRPr lang="en-US" sz="1100" dirty="0"/>
          </a:p>
        </p:txBody>
      </p:sp>
      <p:sp>
        <p:nvSpPr>
          <p:cNvPr id="20" name="Text 9"/>
          <p:cNvSpPr/>
          <p:nvPr/>
        </p:nvSpPr>
        <p:spPr>
          <a:xfrm>
            <a:off x="1157288" y="4337149"/>
            <a:ext cx="3878238" cy="170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Third-party integrations and professional services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Market Vision &amp; Why Now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39874" y="739750"/>
            <a:ext cx="3938067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Platform Expansion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39874" y="887834"/>
            <a:ext cx="4395267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platform. Multiple industries. ARVELA starts in livestock and scales across every data-intensive physical operation.</a:t>
            </a:r>
            <a:endParaRPr lang="en-US" sz="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017984"/>
            <a:ext cx="3938067" cy="3938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70822" y="2186062"/>
            <a:ext cx="3938067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Timing Is Perfect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769" y="2341290"/>
            <a:ext cx="115639" cy="1156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21448" y="2338983"/>
            <a:ext cx="368744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Maturity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921448" y="2487067"/>
            <a:ext cx="368744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models are production-ready</a:t>
            </a:r>
            <a:endParaRPr lang="en-US" sz="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769" y="2653233"/>
            <a:ext cx="115639" cy="1156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21448" y="2650927"/>
            <a:ext cx="368744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IoT Adoption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4921448" y="2799011"/>
            <a:ext cx="368744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costs have dropped dramatically</a:t>
            </a:r>
            <a:endParaRPr lang="en-US" sz="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769" y="2965177"/>
            <a:ext cx="115639" cy="1156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21448" y="2962870"/>
            <a:ext cx="368744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Infrastructure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921448" y="3110954"/>
            <a:ext cx="368744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Scalable, affordable compute everywhere</a:t>
            </a:r>
            <a:endParaRPr lang="en-US" sz="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769" y="3277121"/>
            <a:ext cx="115639" cy="1156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21448" y="3274814"/>
            <a:ext cx="3687440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Sustainability Pressure</a:t>
            </a: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4921448" y="3422898"/>
            <a:ext cx="368744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and market demand for efficiency</a:t>
            </a:r>
            <a:endParaRPr lang="en-US" sz="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4521"/>
            <a:ext cx="8064252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Traction &amp; Team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9874" y="1015975"/>
            <a:ext cx="3888060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9874" y="1285503"/>
            <a:ext cx="23619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9874" y="1471910"/>
            <a:ext cx="3888060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539874" y="1559496"/>
            <a:ext cx="3888060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Founded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9874" y="1817712"/>
            <a:ext cx="3888060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MVP architecture and technology roadmap defined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874" y="2153022"/>
            <a:ext cx="23619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874" y="2339429"/>
            <a:ext cx="3888060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539874" y="2427015"/>
            <a:ext cx="3888060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Market Validation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874" y="2685231"/>
            <a:ext cx="3888060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Meetings with Ministry, ASAJA, and hardware partners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9874" y="3020541"/>
            <a:ext cx="23619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874" y="3206948"/>
            <a:ext cx="3888060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874" y="3294534"/>
            <a:ext cx="3888060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Pilots Preparing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874" y="3552751"/>
            <a:ext cx="3888060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IMIDRA application submitted, first deployments in progress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35773" y="925562"/>
            <a:ext cx="4058171" cy="3763342"/>
          </a:xfrm>
          <a:prstGeom prst="roundRect">
            <a:avLst>
              <a:gd name="adj" fmla="val 471"/>
            </a:avLst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3868" y="1015975"/>
            <a:ext cx="3821981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Team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3868" y="1274192"/>
            <a:ext cx="4279181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Sergio</a:t>
            </a: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Founder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3868" y="1511871"/>
            <a:ext cx="3821981" cy="72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Software Engineering &amp; Cloud</a:t>
            </a:r>
            <a:endParaRPr lang="en-US" sz="900" dirty="0"/>
          </a:p>
          <a:p>
            <a:pPr marL="182880" indent="-182880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Artificial Intelligence</a:t>
            </a:r>
            <a:endParaRPr lang="en-US" sz="900" dirty="0"/>
          </a:p>
          <a:p>
            <a:pPr marL="182880" indent="-182880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 Technology</a:t>
            </a:r>
            <a:endParaRPr lang="en-US" sz="900" dirty="0"/>
          </a:p>
          <a:p>
            <a:pPr marL="182880" indent="-182880" algn="l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University Lecturer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3868" y="2363316"/>
            <a:ext cx="3821981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3868" y="2508796"/>
            <a:ext cx="3821981" cy="1852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Building the intelligence layer for the physical world.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4753868" y="4451226"/>
            <a:ext cx="4279181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livestock. Scale everywhere.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576</Words>
  <Application>Microsoft Office PowerPoint</Application>
  <PresentationFormat>Presentación en pantalla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Montserrat Bold</vt:lpstr>
      <vt:lpstr>Calibri</vt:lpstr>
      <vt:lpstr>Source Sans 3</vt:lpstr>
      <vt:lpstr>Source Sans 3 Bold</vt:lpstr>
      <vt:lpstr>Montserrat Light</vt:lpstr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ARVELA</dc:title>
  <dc:creator>Sergio Alonso</dc:creator>
  <cp:lastModifiedBy>TotuWare</cp:lastModifiedBy>
  <cp:revision>2</cp:revision>
  <dcterms:created xsi:type="dcterms:W3CDTF">2026-07-12T08:49:17Z</dcterms:created>
  <dcterms:modified xsi:type="dcterms:W3CDTF">2026-07-14T21:56:47Z</dcterms:modified>
</cp:coreProperties>
</file>